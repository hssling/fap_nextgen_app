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355080"/>
            <a:ext cx="4701993" cy="252377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546066"/>
                </a:solidFill>
                <a:latin typeface="Aptos"/>
              </a:rPr>
              <a:t>FAP NextGen | Architecture, security and compliance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50292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800" b="1">
                <a:solidFill>
                  <a:srgbClr val="546066"/>
                </a:solidFill>
                <a:latin typeface="Aptos"/>
              </a:rPr>
              <a:t>01</a:t>
            </a:r>
          </a:p>
        </p:txBody>
      </p:sp>
      <p:pic>
        <p:nvPicPr>
          <p:cNvPr id="4" name="Picture 3" descr="pwa-512x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27432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502920"/>
            <a:ext cx="8412480" cy="41148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Aptos"/>
              </a:rPr>
              <a:t>FAP NEXTGEN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9875520" cy="114300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3800" b="1">
                <a:solidFill>
                  <a:srgbClr val="182329"/>
                </a:solidFill>
                <a:latin typeface="Aptos"/>
              </a:rPr>
              <a:t>Architecture, security and compliance readiness for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331931" cy="406265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400" b="0" dirty="0">
                <a:solidFill>
                  <a:srgbClr val="546066"/>
                </a:solidFill>
                <a:latin typeface="Aptos"/>
              </a:rPr>
              <a:t>AI-enabled digital platform for the Family Adoption Programme under NMC-CBME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57600"/>
            <a:ext cx="3200400" cy="174031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800" b="1" dirty="0">
                <a:solidFill>
                  <a:srgbClr val="B8860B"/>
                </a:solidFill>
                <a:latin typeface="Aptos"/>
              </a:rPr>
              <a:t>Recognition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Third Prize: AI for All – India’s Open Data &amp; AI-Readiness Challenge</a:t>
            </a:r>
            <a:br>
              <a:rPr sz="1600" dirty="0"/>
            </a:br>
            <a:r>
              <a:rPr sz="1600" dirty="0" err="1"/>
              <a:t>Factly</a:t>
            </a:r>
            <a:r>
              <a:rPr sz="1600" dirty="0"/>
              <a:t> x Meta x </a:t>
            </a:r>
            <a:r>
              <a:rPr sz="1600" dirty="0" err="1"/>
              <a:t>IndiaAI</a:t>
            </a:r>
            <a:endParaRPr sz="1600" dirty="0"/>
          </a:p>
        </p:txBody>
      </p:sp>
      <p:sp>
        <p:nvSpPr>
          <p:cNvPr id="9" name="Rounded Rectangle 8"/>
          <p:cNvSpPr/>
          <p:nvPr/>
        </p:nvSpPr>
        <p:spPr>
          <a:xfrm>
            <a:off x="4160520" y="3657600"/>
            <a:ext cx="2971800" cy="174031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800" b="1">
                <a:solidFill>
                  <a:srgbClr val="245B8C"/>
                </a:solidFill>
                <a:latin typeface="Aptos"/>
              </a:rPr>
              <a:t>Current status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ICMR extramural grant submission; two journal papers under review; active development and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657600"/>
            <a:ext cx="3337560" cy="174031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800" b="1">
                <a:solidFill>
                  <a:srgbClr val="0F766E"/>
                </a:solidFill>
                <a:latin typeface="Aptos"/>
              </a:rPr>
              <a:t>Positioning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Compliance-ready, certification-review-ready, patent-ready evidence package for institutional scale.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9202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500" b="1">
                <a:solidFill>
                  <a:srgbClr val="182329"/>
                </a:solidFill>
                <a:latin typeface="Aptos"/>
              </a:rPr>
              <a:t>FAP is mandatory, but the evidence system is still fragmented.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3718326" cy="20621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546066"/>
                </a:solidFill>
                <a:latin typeface="Aptos"/>
              </a:rPr>
              <a:t>FAP NextGen | Architecture, security and compliance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0292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800" b="1">
                <a:solidFill>
                  <a:srgbClr val="546066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87591"/>
            <a:ext cx="2514600" cy="1587712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 dirty="0">
                <a:solidFill>
                  <a:srgbClr val="9B2C2C"/>
                </a:solidFill>
                <a:latin typeface="Aptos"/>
              </a:rPr>
              <a:t>Paper logbooks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Data remains trapped in files, difficult to audit and impossible to </a:t>
            </a:r>
            <a:r>
              <a:rPr sz="1600" dirty="0" err="1"/>
              <a:t>analyse</a:t>
            </a:r>
            <a:r>
              <a:rPr sz="1600" dirty="0"/>
              <a:t> at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87591"/>
            <a:ext cx="2514600" cy="1587712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 dirty="0">
                <a:solidFill>
                  <a:srgbClr val="9B2C2C"/>
                </a:solidFill>
                <a:latin typeface="Aptos"/>
              </a:rPr>
              <a:t>Faculty load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Mentors review large cohorts with limited time for formative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87591"/>
            <a:ext cx="2514600" cy="1587712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 dirty="0">
                <a:solidFill>
                  <a:srgbClr val="9B2C2C"/>
                </a:solidFill>
                <a:latin typeface="Aptos"/>
              </a:rPr>
              <a:t>AI-readiness gap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Unstructured observations cannot easily support public-health intelligence.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1987591"/>
            <a:ext cx="2514600" cy="1587712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9B2C2C"/>
                </a:solidFill>
                <a:latin typeface="Aptos"/>
              </a:rPr>
              <a:t>Compliance burden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Health data requires explicit governance, consent, security and auditability.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4834" y="4846320"/>
            <a:ext cx="9876525" cy="80637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500" b="1" dirty="0">
                <a:solidFill>
                  <a:srgbClr val="0F766E"/>
                </a:solidFill>
                <a:latin typeface="Aptos"/>
              </a:rPr>
              <a:t>FAP NextGen turns routine fieldwork into an auditable, governed and AI-assisted learning and community-health data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9202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500" b="1">
                <a:solidFill>
                  <a:srgbClr val="182329"/>
                </a:solidFill>
                <a:latin typeface="Aptos"/>
              </a:rPr>
              <a:t>The platform connects student fieldwork, mentor review and community intelligence.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4039952" cy="221599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00" b="0" dirty="0">
                <a:solidFill>
                  <a:srgbClr val="546066"/>
                </a:solidFill>
                <a:latin typeface="Aptos"/>
              </a:rPr>
              <a:t>FAP NextGen | Architecture, security and compliance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0292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800" b="1">
                <a:solidFill>
                  <a:srgbClr val="546066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799"/>
            <a:ext cx="1645920" cy="1150367"/>
          </a:xfrm>
          <a:prstGeom prst="roundRect">
            <a:avLst/>
          </a:prstGeom>
          <a:solidFill>
            <a:srgbClr val="FFFFFF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Student field visit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799"/>
            <a:ext cx="1645920" cy="1150367"/>
          </a:xfrm>
          <a:prstGeom prst="roundRect">
            <a:avLst/>
          </a:prstGeom>
          <a:solidFill>
            <a:srgbClr val="FFFFFF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Family + member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828799"/>
            <a:ext cx="1645920" cy="1150367"/>
          </a:xfrm>
          <a:prstGeom prst="roundRect">
            <a:avLst/>
          </a:prstGeom>
          <a:solidFill>
            <a:srgbClr val="FFFFFF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Visits + assessments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828799"/>
            <a:ext cx="1645920" cy="1150367"/>
          </a:xfrm>
          <a:prstGeom prst="roundRect">
            <a:avLst/>
          </a:prstGeom>
          <a:solidFill>
            <a:srgbClr val="FFFFFF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AI reflection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828799"/>
            <a:ext cx="1645920" cy="1150367"/>
          </a:xfrm>
          <a:prstGeom prst="roundRect">
            <a:avLst/>
          </a:prstGeom>
          <a:solidFill>
            <a:srgbClr val="FFFFFF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Mentor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3938310"/>
            <a:ext cx="1645920" cy="1150367"/>
          </a:xfrm>
          <a:prstGeom prst="roundRect">
            <a:avLst/>
          </a:prstGeom>
          <a:solidFill>
            <a:srgbClr val="FFFFFF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Reports + analytics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2240280"/>
            <a:ext cx="365760" cy="0"/>
          </a:xfrm>
          <a:prstGeom prst="line">
            <a:avLst/>
          </a:prstGeom>
          <a:ln w="177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34840" y="2240280"/>
            <a:ext cx="365760" cy="0"/>
          </a:xfrm>
          <a:prstGeom prst="line">
            <a:avLst/>
          </a:prstGeom>
          <a:ln w="177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46520" y="2240280"/>
            <a:ext cx="411480" cy="0"/>
          </a:xfrm>
          <a:prstGeom prst="line">
            <a:avLst/>
          </a:prstGeom>
          <a:ln w="177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03920" y="2240280"/>
            <a:ext cx="411480" cy="0"/>
          </a:xfrm>
          <a:prstGeom prst="line">
            <a:avLst/>
          </a:prstGeom>
          <a:ln w="177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  <a:stCxn id="9" idx="2"/>
          </p:cNvCxnSpPr>
          <p:nvPr/>
        </p:nvCxnSpPr>
        <p:spPr>
          <a:xfrm>
            <a:off x="5623560" y="2979166"/>
            <a:ext cx="0" cy="924240"/>
          </a:xfrm>
          <a:prstGeom prst="line">
            <a:avLst/>
          </a:prstGeom>
          <a:ln w="17780">
            <a:solidFill>
              <a:srgbClr val="2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97280" y="5426413"/>
            <a:ext cx="1005840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 dirty="0">
                <a:solidFill>
                  <a:srgbClr val="182329"/>
                </a:solidFill>
                <a:latin typeface="Aptos"/>
              </a:rPr>
              <a:t>Core proof: one platform produces learning evidence, role-governed records, AI quality signals and exportable programme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9202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500" b="1">
                <a:solidFill>
                  <a:srgbClr val="182329"/>
                </a:solidFill>
                <a:latin typeface="Aptos"/>
              </a:rPr>
              <a:t>The technical stack is simple enough to certify and modular enough to scale.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5349478" cy="283154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600" b="0" dirty="0">
                <a:solidFill>
                  <a:srgbClr val="546066"/>
                </a:solidFill>
                <a:latin typeface="Aptos"/>
              </a:rPr>
              <a:t>FAP NextGen | Architecture, security and compliance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0292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800" b="1">
                <a:solidFill>
                  <a:srgbClr val="546066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19"/>
            <a:ext cx="2057400" cy="1620843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 dirty="0">
                <a:solidFill>
                  <a:srgbClr val="0F766E"/>
                </a:solidFill>
                <a:latin typeface="Aptos"/>
              </a:rPr>
              <a:t>React + Vite PWA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Field workflows, dashboards, reports, installable shell.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417319"/>
            <a:ext cx="2057400" cy="1620843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245B8C"/>
                </a:solidFill>
                <a:latin typeface="Aptos"/>
              </a:rPr>
              <a:t>Supabase Auth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Identity, sessions, profiles and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417319"/>
            <a:ext cx="2057400" cy="1620843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245B8C"/>
                </a:solidFill>
                <a:latin typeface="Aptos"/>
              </a:rPr>
              <a:t>Postgres + RLS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Student ownership, mentor assignment and admin governance.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417319"/>
            <a:ext cx="2057400" cy="1620843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0F766E"/>
                </a:solidFill>
                <a:latin typeface="Aptos"/>
              </a:rPr>
              <a:t>AI services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Edge function + optional FastAPI microservice.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0497" y="4036876"/>
            <a:ext cx="2971800" cy="1620843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 dirty="0">
                <a:solidFill>
                  <a:srgbClr val="B8860B"/>
                </a:solidFill>
                <a:latin typeface="Aptos"/>
              </a:rPr>
              <a:t>Reports and analytics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Logbook, community profile, reflection intelligence, exports.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97480" y="1874519"/>
            <a:ext cx="365760" cy="0"/>
          </a:xfrm>
          <a:prstGeom prst="line">
            <a:avLst/>
          </a:prstGeom>
          <a:ln w="177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20640" y="1874519"/>
            <a:ext cx="365760" cy="0"/>
          </a:xfrm>
          <a:prstGeom prst="line">
            <a:avLst/>
          </a:prstGeom>
          <a:ln w="177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43800" y="1874519"/>
            <a:ext cx="365760" cy="0"/>
          </a:xfrm>
          <a:prstGeom prst="line">
            <a:avLst/>
          </a:prstGeom>
          <a:ln w="177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365463" y="3106374"/>
            <a:ext cx="731520" cy="914400"/>
          </a:xfrm>
          <a:prstGeom prst="line">
            <a:avLst/>
          </a:prstGeom>
          <a:ln w="17780">
            <a:solidFill>
              <a:srgbClr val="2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</p:cNvCxnSpPr>
          <p:nvPr/>
        </p:nvCxnSpPr>
        <p:spPr>
          <a:xfrm flipH="1">
            <a:off x="6096983" y="3070608"/>
            <a:ext cx="2194560" cy="914400"/>
          </a:xfrm>
          <a:prstGeom prst="line">
            <a:avLst/>
          </a:prstGeom>
          <a:ln w="17780">
            <a:solidFill>
              <a:srgbClr val="24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9202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500" b="1">
                <a:solidFill>
                  <a:srgbClr val="182329"/>
                </a:solidFill>
                <a:latin typeface="Aptos"/>
              </a:rPr>
              <a:t>The core database is purpose-limited around FAP workflows.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4701993" cy="252377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400" b="0" dirty="0">
                <a:solidFill>
                  <a:srgbClr val="546066"/>
                </a:solidFill>
                <a:latin typeface="Aptos"/>
              </a:rPr>
              <a:t>FAP NextGen | Architecture, security and compliance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0292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800" b="1">
                <a:solidFill>
                  <a:srgbClr val="546066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3884"/>
            <a:ext cx="1920240" cy="145438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400" b="1" dirty="0">
                <a:solidFill>
                  <a:srgbClr val="245B8C"/>
                </a:solidFill>
                <a:latin typeface="Aptos"/>
              </a:rPr>
              <a:t>Profiles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400" dirty="0"/>
              <a:t>Student, mentor, admin identity and role metadata.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823884"/>
            <a:ext cx="1920240" cy="145438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400" b="1" dirty="0">
                <a:solidFill>
                  <a:srgbClr val="0F766E"/>
                </a:solidFill>
                <a:latin typeface="Aptos"/>
              </a:rPr>
              <a:t>Families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400" dirty="0"/>
              <a:t>Household, village, address and contact fields.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823884"/>
            <a:ext cx="1920240" cy="145438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400" b="1">
                <a:solidFill>
                  <a:srgbClr val="0F766E"/>
                </a:solidFill>
                <a:latin typeface="Aptos"/>
              </a:rPr>
              <a:t>Members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400"/>
              <a:t>Demographic and health-context fields.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23884"/>
            <a:ext cx="1920240" cy="145438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400" b="1">
                <a:solidFill>
                  <a:srgbClr val="0F766E"/>
                </a:solidFill>
                <a:latin typeface="Aptos"/>
              </a:rPr>
              <a:t>Visits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400"/>
              <a:t>Date, notes, activity, outcomes and form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1823884"/>
            <a:ext cx="1920240" cy="145438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400" b="1">
                <a:solidFill>
                  <a:srgbClr val="9B2C2C"/>
                </a:solidFill>
                <a:latin typeface="Aptos"/>
              </a:rPr>
              <a:t>Measurements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400"/>
              <a:t>Vitals and health metrics by member and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3698404"/>
            <a:ext cx="2286000" cy="145438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400" b="1">
                <a:solidFill>
                  <a:srgbClr val="B8860B"/>
                </a:solidFill>
                <a:latin typeface="Aptos"/>
              </a:rPr>
              <a:t>Reflections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400"/>
              <a:t>Gibbs cycle text, learning tags, mentor feedback.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698404"/>
            <a:ext cx="2286000" cy="145438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400" b="1">
                <a:solidFill>
                  <a:srgbClr val="B8860B"/>
                </a:solidFill>
                <a:latin typeface="Aptos"/>
              </a:rPr>
              <a:t>AI metadata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400"/>
              <a:t>Provider, model, confidence, quality checks, audit trail.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698404"/>
            <a:ext cx="2286000" cy="145438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400" b="1">
                <a:solidFill>
                  <a:srgbClr val="245B8C"/>
                </a:solidFill>
                <a:latin typeface="Aptos"/>
              </a:rPr>
              <a:t>Reports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400"/>
              <a:t>Aggregated student, mentor and community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9202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500" b="1">
                <a:solidFill>
                  <a:srgbClr val="182329"/>
                </a:solidFill>
                <a:latin typeface="Aptos"/>
              </a:rPr>
              <a:t>Security is implemented at identity, database, AI and operations layers.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4701993" cy="252377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546066"/>
                </a:solidFill>
                <a:latin typeface="Aptos"/>
              </a:rPr>
              <a:t>FAP NextGen | Architecture, security and compliance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0292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800" b="1">
                <a:solidFill>
                  <a:srgbClr val="546066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8598"/>
            <a:ext cx="2468880" cy="114300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245B8C"/>
                </a:solidFill>
                <a:latin typeface="Aptos"/>
              </a:rPr>
              <a:t>Identity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Supabase Auth, session refresh, role-linked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8598"/>
            <a:ext cx="2468880" cy="114300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0F766E"/>
                </a:solidFill>
                <a:latin typeface="Aptos"/>
              </a:rPr>
              <a:t>Authorization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Postgres RLS: own data, assigned students, admin oversight.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8598"/>
            <a:ext cx="2468880" cy="114300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B8860B"/>
                </a:solidFill>
                <a:latin typeface="Aptos"/>
              </a:rPr>
              <a:t>Secrets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Server-side edge function path for institutional AI keys.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928598"/>
            <a:ext cx="2468880" cy="114300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0F766E"/>
                </a:solidFill>
                <a:latin typeface="Aptos"/>
              </a:rPr>
              <a:t>Audit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AI audit logs, timestamps, version metadata and runbooks.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24528"/>
            <a:ext cx="10192610" cy="64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182329"/>
                </a:solidFill>
                <a:latin typeface="Aptos"/>
              </a:defRPr>
            </a:pPr>
            <a:r>
              <a:rPr dirty="0"/>
              <a:t>Production hardening: MFA/SSO, VAPT, RLS regression tests, CSP/HSTS, encrypted backup drills and vendor DPA review.</a:t>
            </a:r>
          </a:p>
          <a:p>
            <a:pPr algn="ctr">
              <a:spcAft>
                <a:spcPts val="500"/>
              </a:spcAft>
              <a:defRPr sz="1600">
                <a:solidFill>
                  <a:srgbClr val="182329"/>
                </a:solidFill>
                <a:latin typeface="Aptos"/>
              </a:defRPr>
            </a:pPr>
            <a:r>
              <a:rPr dirty="0"/>
              <a:t>Offline field mode is a strength, but sensitive local cache must be governed by TTL, device-lock and clear-cache controls.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9202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AI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500" b="1">
                <a:solidFill>
                  <a:srgbClr val="182329"/>
                </a:solidFill>
                <a:latin typeface="Aptos"/>
              </a:rPr>
              <a:t>AI is framed as formative decision support, not autonomous clinical diagnosis.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4701993" cy="252377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400" b="0" dirty="0">
                <a:solidFill>
                  <a:srgbClr val="546066"/>
                </a:solidFill>
                <a:latin typeface="Aptos"/>
              </a:rPr>
              <a:t>FAP NextGen | Architecture, security and compliance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0292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800" b="1">
                <a:solidFill>
                  <a:srgbClr val="546066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9228"/>
            <a:ext cx="2468880" cy="195430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800" b="1" dirty="0">
                <a:solidFill>
                  <a:srgbClr val="0F766E"/>
                </a:solidFill>
                <a:latin typeface="Aptos"/>
              </a:rPr>
              <a:t>Gibbs extraction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Description, Feelings, Evaluation, Analysis, Conclusion and Action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69228"/>
            <a:ext cx="2468880" cy="195430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800" b="1">
                <a:solidFill>
                  <a:srgbClr val="245B8C"/>
                </a:solidFill>
                <a:latin typeface="Aptos"/>
              </a:rPr>
              <a:t>Quality intelligence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Missing-stage flags, confidence, evidence spans and review metadata.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9228"/>
            <a:ext cx="2468880" cy="195430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800" b="1">
                <a:solidFill>
                  <a:srgbClr val="9B2C2C"/>
                </a:solidFill>
                <a:latin typeface="Aptos"/>
              </a:rPr>
              <a:t>Safety boundary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Decision-support disclaimer and blocked definitive diagnosis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969228"/>
            <a:ext cx="2468880" cy="195430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800" b="1">
                <a:solidFill>
                  <a:srgbClr val="B8860B"/>
                </a:solidFill>
                <a:latin typeface="Aptos"/>
              </a:rPr>
              <a:t>Human review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Mentor oversight before assessment decisions or clinical interpretation.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804" y="4640711"/>
            <a:ext cx="10892916" cy="132959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800" b="1" dirty="0">
                <a:solidFill>
                  <a:srgbClr val="182329"/>
                </a:solidFill>
                <a:latin typeface="Aptos"/>
              </a:rPr>
              <a:t>Certification message: the AI layer is auditable, versioned and reviewable; full deployment should use provider allowlists and de-identification rules.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9202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DPDP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500" b="1">
                <a:solidFill>
                  <a:srgbClr val="182329"/>
                </a:solidFill>
                <a:latin typeface="Aptos"/>
              </a:rPr>
              <a:t>The app is mapped to DPDP obligations through privacy-by-design controls.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4701993" cy="252377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400" b="0" dirty="0">
                <a:solidFill>
                  <a:srgbClr val="546066"/>
                </a:solidFill>
                <a:latin typeface="Aptos"/>
              </a:rPr>
              <a:t>FAP NextGen | Architecture, security and compliance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0292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800" b="1">
                <a:solidFill>
                  <a:srgbClr val="546066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154680" cy="136245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800" b="1" dirty="0">
                <a:solidFill>
                  <a:srgbClr val="0F766E"/>
                </a:solidFill>
                <a:latin typeface="Aptos"/>
              </a:rPr>
              <a:t>Notice + consent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Plain-language purpose notice; consent and withdrawal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154680" cy="136245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800" b="1" dirty="0">
                <a:solidFill>
                  <a:srgbClr val="245B8C"/>
                </a:solidFill>
                <a:latin typeface="Aptos"/>
              </a:rPr>
              <a:t>Data </a:t>
            </a:r>
            <a:r>
              <a:rPr sz="2800" b="1" dirty="0" err="1">
                <a:solidFill>
                  <a:srgbClr val="245B8C"/>
                </a:solidFill>
                <a:latin typeface="Aptos"/>
              </a:rPr>
              <a:t>minimisation</a:t>
            </a:r>
            <a:endParaRPr sz="2800" b="1" dirty="0">
              <a:solidFill>
                <a:srgbClr val="245B8C"/>
              </a:solidFill>
              <a:latin typeface="Aptos"/>
            </a:endParaRP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FAP-specific data dictionary and field governance.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154680" cy="136245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800" b="1" dirty="0">
                <a:solidFill>
                  <a:srgbClr val="0F766E"/>
                </a:solidFill>
                <a:latin typeface="Aptos"/>
              </a:rPr>
              <a:t>Rights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Access, correction, erasure and grievance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3154680" cy="136245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800" b="1" dirty="0">
                <a:solidFill>
                  <a:srgbClr val="245B8C"/>
                </a:solidFill>
                <a:latin typeface="Aptos"/>
              </a:rPr>
              <a:t>Security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RLS, Auth, audit logs, server-side secrets and incident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926080"/>
            <a:ext cx="3154680" cy="136245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800" b="1" dirty="0">
                <a:solidFill>
                  <a:srgbClr val="0F766E"/>
                </a:solidFill>
                <a:latin typeface="Aptos"/>
              </a:rPr>
              <a:t>Children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Guardian consent controls for family/member records involving minors.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926080"/>
            <a:ext cx="3154680" cy="1362456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800" b="1" dirty="0">
                <a:solidFill>
                  <a:srgbClr val="245B8C"/>
                </a:solidFill>
                <a:latin typeface="Aptos"/>
              </a:rPr>
              <a:t>Retention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Lifecycle schedule, anonymi</a:t>
            </a:r>
            <a:r>
              <a:rPr lang="en-US" sz="1600" dirty="0"/>
              <a:t>z</a:t>
            </a:r>
            <a:r>
              <a:rPr sz="1600" dirty="0"/>
              <a:t>ation and </a:t>
            </a:r>
            <a:r>
              <a:rPr lang="en-US" sz="1600" dirty="0"/>
              <a:t>three</a:t>
            </a:r>
            <a:r>
              <a:rPr sz="1600" dirty="0"/>
              <a:t>-year log policy where applicable.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999" y="4983480"/>
            <a:ext cx="11314444" cy="4062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400" b="1" dirty="0">
                <a:solidFill>
                  <a:srgbClr val="0F766E"/>
                </a:solidFill>
                <a:latin typeface="Aptos"/>
              </a:rPr>
              <a:t>DPDP-compliant-by-design and ready for institutional compliance certification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9202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HEALTH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500" b="1">
                <a:solidFill>
                  <a:srgbClr val="182329"/>
                </a:solidFill>
                <a:latin typeface="Aptos"/>
              </a:rPr>
              <a:t>ICMR ethics and ABDM principles shape the research and scale pathway.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5349478" cy="283154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546066"/>
                </a:solidFill>
                <a:latin typeface="Aptos"/>
              </a:rPr>
              <a:t>FAP NextGen | Architecture, security and compliance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0292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800" b="1">
                <a:solidFill>
                  <a:srgbClr val="546066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2971800" cy="196596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800" b="1" dirty="0">
                <a:solidFill>
                  <a:srgbClr val="245B8C"/>
                </a:solidFill>
                <a:latin typeface="Aptos"/>
              </a:rPr>
              <a:t>ICMR ethics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Respect, beneficence, non-maleficence, justice, privacy, confidentiality and responsible research conduct.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64208"/>
            <a:ext cx="2971800" cy="196596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800" b="1" dirty="0">
                <a:solidFill>
                  <a:srgbClr val="B8860B"/>
                </a:solidFill>
                <a:latin typeface="Aptos"/>
              </a:rPr>
              <a:t>IEC/SRC readiness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Protocol, PIS/ICF, data management plan, anonymization and risk mitigation.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664208"/>
            <a:ext cx="2971800" cy="196596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sz="2400" b="1" dirty="0">
                <a:solidFill>
                  <a:srgbClr val="0F766E"/>
                </a:solidFill>
                <a:latin typeface="Aptos"/>
              </a:rPr>
              <a:t>ABDM-ready direction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400" dirty="0"/>
              <a:t>Consent-based sharing, ABHA only where lawful, interoperable and privacy-preserving health-data exchange.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01294"/>
            <a:ext cx="9875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800">
                <a:solidFill>
                  <a:srgbClr val="182329"/>
                </a:solidFill>
                <a:latin typeface="Aptos"/>
              </a:defRPr>
            </a:pPr>
            <a:r>
              <a:rPr sz="2800" dirty="0"/>
              <a:t>Aggregate dashboards should be the default for community intelligence; identifiable records stay restricted to </a:t>
            </a:r>
            <a:r>
              <a:rPr sz="2800" dirty="0" err="1"/>
              <a:t>authorised</a:t>
            </a:r>
            <a:r>
              <a:rPr sz="2800" dirty="0"/>
              <a:t> academic/clinical workflows.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9202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500" b="1">
                <a:solidFill>
                  <a:srgbClr val="182329"/>
                </a:solidFill>
                <a:latin typeface="Aptos"/>
              </a:rPr>
              <a:t>Breach readiness combines DPDP notification and CERT-In cyber reporting.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4039952" cy="221599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546066"/>
                </a:solidFill>
                <a:latin typeface="Aptos"/>
              </a:rPr>
              <a:t>FAP NextGen | Architecture, security and compliance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0292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800" b="1">
                <a:solidFill>
                  <a:srgbClr val="546066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29699"/>
            <a:ext cx="1828800" cy="1799301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 dirty="0">
                <a:solidFill>
                  <a:srgbClr val="0F766E"/>
                </a:solidFill>
                <a:latin typeface="Aptos"/>
              </a:rPr>
              <a:t>Detect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Application, </a:t>
            </a:r>
            <a:r>
              <a:rPr sz="1600" dirty="0" err="1"/>
              <a:t>Supabase</a:t>
            </a:r>
            <a:r>
              <a:rPr sz="1600" dirty="0"/>
              <a:t>, </a:t>
            </a:r>
            <a:r>
              <a:rPr sz="1600" dirty="0" err="1"/>
              <a:t>Vercel</a:t>
            </a:r>
            <a:r>
              <a:rPr sz="1600" dirty="0"/>
              <a:t> and AI-service logs.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95728" y="2395728"/>
            <a:ext cx="393192" cy="0"/>
          </a:xfrm>
          <a:prstGeom prst="line">
            <a:avLst/>
          </a:prstGeom>
          <a:ln w="177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07208" y="1629699"/>
            <a:ext cx="1828800" cy="1799301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0F766E"/>
                </a:solidFill>
                <a:latin typeface="Aptos"/>
              </a:rPr>
              <a:t>Contain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Disable keys, revoke sessions, isolate affected functions.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36008" y="2395728"/>
            <a:ext cx="393192" cy="0"/>
          </a:xfrm>
          <a:prstGeom prst="line">
            <a:avLst/>
          </a:prstGeom>
          <a:ln w="177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47488" y="1629699"/>
            <a:ext cx="1828800" cy="1799301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0F766E"/>
                </a:solidFill>
                <a:latin typeface="Aptos"/>
              </a:rPr>
              <a:t>Assess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Data categories, principals affected, processor scope.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76288" y="2395728"/>
            <a:ext cx="393192" cy="0"/>
          </a:xfrm>
          <a:prstGeom prst="line">
            <a:avLst/>
          </a:prstGeom>
          <a:ln w="177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87768" y="1629699"/>
            <a:ext cx="1828800" cy="1799301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9B2C2C"/>
                </a:solidFill>
                <a:latin typeface="Aptos"/>
              </a:rPr>
              <a:t>Notify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Institution, DPDP Board/Data Principals, CERT-In where reportable.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16568" y="2395728"/>
            <a:ext cx="393192" cy="0"/>
          </a:xfrm>
          <a:prstGeom prst="line">
            <a:avLst/>
          </a:prstGeom>
          <a:ln w="177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28048" y="1629699"/>
            <a:ext cx="1828800" cy="1799301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9B2C2C"/>
                </a:solidFill>
                <a:latin typeface="Aptos"/>
              </a:rPr>
              <a:t>Recover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Restore, patch, communicate and document lessons.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5793" y="4665848"/>
            <a:ext cx="9940413" cy="132959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800" b="1" dirty="0">
                <a:solidFill>
                  <a:srgbClr val="182329"/>
                </a:solidFill>
                <a:latin typeface="Aptos"/>
              </a:rPr>
              <a:t>CERT-In directions require specified cyber incidents to be reported within 6 hours and ICT logs to be retained for 180 days within India.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9202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CERTIFICATION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500" b="1">
                <a:solidFill>
                  <a:srgbClr val="182329"/>
                </a:solidFill>
                <a:latin typeface="Aptos"/>
              </a:rPr>
              <a:t>The evidence pack is structured for formal review.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4701993" cy="252377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400" b="0" dirty="0">
                <a:solidFill>
                  <a:srgbClr val="546066"/>
                </a:solidFill>
                <a:latin typeface="Aptos"/>
              </a:rPr>
              <a:t>FAP NextGen | Architecture, security and compliance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0292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800" b="1">
                <a:solidFill>
                  <a:srgbClr val="546066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154680" cy="1509448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 dirty="0">
                <a:solidFill>
                  <a:srgbClr val="0F766E"/>
                </a:solidFill>
                <a:latin typeface="Aptos"/>
              </a:rPr>
              <a:t>Privacy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DPDP notice, consent, rights, retention and grievance artefacts.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154680" cy="1509448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 dirty="0">
                <a:solidFill>
                  <a:srgbClr val="245B8C"/>
                </a:solidFill>
                <a:latin typeface="Aptos"/>
              </a:rPr>
              <a:t>Security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VAPT, RLS tests, dependency scan, backup and incident drill.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417320"/>
            <a:ext cx="3154680" cy="1509448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0F766E"/>
                </a:solidFill>
                <a:latin typeface="Aptos"/>
              </a:rPr>
              <a:t>Ethics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IEC/SRC protocol, PIS/ICF and data management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17520"/>
            <a:ext cx="3154680" cy="1509448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245B8C"/>
                </a:solidFill>
                <a:latin typeface="Aptos"/>
              </a:rPr>
              <a:t>Operations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Admin SOPs, training, support desk and monitoring.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017520"/>
            <a:ext cx="3154680" cy="1509448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0F766E"/>
                </a:solidFill>
                <a:latin typeface="Aptos"/>
              </a:rPr>
              <a:t>Vendors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Supabase, Vercel and AI-provider processor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017520"/>
            <a:ext cx="3154680" cy="1509448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245B8C"/>
                </a:solidFill>
                <a:latin typeface="Aptos"/>
              </a:rPr>
              <a:t>Quality</a:t>
            </a:r>
          </a:p>
          <a:p>
            <a:pPr algn="ctr"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UAT, clinical safety review and release sign-off.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9202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PATENT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500" b="1">
                <a:solidFill>
                  <a:srgbClr val="182329"/>
                </a:solidFill>
                <a:latin typeface="Aptos"/>
              </a:rPr>
              <a:t>The invention story is the FAP-specific AI and governance workflow.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4039952" cy="221599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00" b="0" dirty="0">
                <a:solidFill>
                  <a:srgbClr val="546066"/>
                </a:solidFill>
                <a:latin typeface="Aptos"/>
              </a:rPr>
              <a:t>FAP NextGen | Architecture, security and compliance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0292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800" b="1">
                <a:solidFill>
                  <a:srgbClr val="546066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333" y="1987592"/>
            <a:ext cx="2926080" cy="150699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 dirty="0">
                <a:solidFill>
                  <a:srgbClr val="9B2C2C"/>
                </a:solidFill>
                <a:latin typeface="Aptos"/>
              </a:rPr>
              <a:t>Problem specificity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Paper FAP logbooks cannot create auditable, longitudinal, AI-ready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8733" y="1987592"/>
            <a:ext cx="2926080" cy="150699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 dirty="0">
                <a:solidFill>
                  <a:srgbClr val="0F766E"/>
                </a:solidFill>
                <a:latin typeface="Aptos"/>
              </a:rPr>
              <a:t>Technical combination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PWA field capture + RLS governance + AI reflection engine + mentor review +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9133" y="1987592"/>
            <a:ext cx="2926080" cy="150699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B8860B"/>
                </a:solidFill>
                <a:latin typeface="Aptos"/>
              </a:rPr>
              <a:t>Evidence trail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Repo history, grant files, challenge submission, manuscripts, architecture and logs.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61302"/>
            <a:ext cx="9784080" cy="132959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800" b="1" dirty="0">
                <a:solidFill>
                  <a:srgbClr val="182329"/>
                </a:solidFill>
                <a:latin typeface="Aptos"/>
              </a:rPr>
              <a:t>Next IP step: prior-art search and provisional specification drafting around the integrated method, system architecture and AI-assisted educational assessment workflow.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9202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SCALE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500" b="1">
                <a:solidFill>
                  <a:srgbClr val="182329"/>
                </a:solidFill>
                <a:latin typeface="Aptos"/>
              </a:rPr>
              <a:t>Full-scale implementation should proceed through controlled gates.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4039952" cy="221599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200" b="0" dirty="0">
                <a:solidFill>
                  <a:srgbClr val="546066"/>
                </a:solidFill>
                <a:latin typeface="Aptos"/>
              </a:rPr>
              <a:t>FAP NextGen | Architecture, security and compliance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0292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800" b="1">
                <a:solidFill>
                  <a:srgbClr val="546066"/>
                </a:solidFill>
                <a:latin typeface="Aptos"/>
              </a:rPr>
              <a:t>13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396" y="2606040"/>
            <a:ext cx="1678088" cy="3139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b="1" dirty="0">
                <a:solidFill>
                  <a:srgbClr val="182329"/>
                </a:solidFill>
                <a:latin typeface="Aptos"/>
              </a:rPr>
              <a:t>Governance lock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08760" y="2130552"/>
            <a:ext cx="1371600" cy="0"/>
          </a:xfrm>
          <a:prstGeom prst="line">
            <a:avLst/>
          </a:prstGeom>
          <a:ln w="177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017520" y="1828800"/>
            <a:ext cx="594360" cy="5943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5924" y="2606040"/>
            <a:ext cx="1866153" cy="3139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b="1">
                <a:solidFill>
                  <a:srgbClr val="182329"/>
                </a:solidFill>
                <a:latin typeface="Aptos"/>
              </a:rPr>
              <a:t>Security validation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03320" y="2130552"/>
            <a:ext cx="1371600" cy="0"/>
          </a:xfrm>
          <a:prstGeom prst="line">
            <a:avLst/>
          </a:prstGeom>
          <a:ln w="177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212080" y="1828800"/>
            <a:ext cx="594360" cy="5943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7721" y="2606040"/>
            <a:ext cx="1211678" cy="3139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b="1">
                <a:solidFill>
                  <a:srgbClr val="182329"/>
                </a:solidFill>
                <a:latin typeface="Aptos"/>
              </a:rPr>
              <a:t>Pilot cohort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7880" y="2130552"/>
            <a:ext cx="1371600" cy="0"/>
          </a:xfrm>
          <a:prstGeom prst="line">
            <a:avLst/>
          </a:prstGeom>
          <a:ln w="177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406640" y="1828800"/>
            <a:ext cx="594360" cy="5943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1682" y="2606040"/>
            <a:ext cx="1612877" cy="3139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b="1">
                <a:solidFill>
                  <a:srgbClr val="182329"/>
                </a:solidFill>
                <a:latin typeface="Aptos"/>
              </a:rPr>
              <a:t>Institution scale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92440" y="2130552"/>
            <a:ext cx="1371600" cy="0"/>
          </a:xfrm>
          <a:prstGeom prst="line">
            <a:avLst/>
          </a:prstGeom>
          <a:ln w="1778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601200" y="1828800"/>
            <a:ext cx="594360" cy="5943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6592" y="2606040"/>
            <a:ext cx="1632178" cy="3139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b="1">
                <a:solidFill>
                  <a:srgbClr val="182329"/>
                </a:solidFill>
                <a:latin typeface="Aptos"/>
              </a:rPr>
              <a:t>Research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86200"/>
            <a:ext cx="9784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800">
                <a:solidFill>
                  <a:srgbClr val="182329"/>
                </a:solidFill>
                <a:latin typeface="Aptos"/>
              </a:defRPr>
            </a:pPr>
            <a:r>
              <a:rPr sz="2400" dirty="0"/>
              <a:t>Exit gate for full scale: signed governance pack, security sign-off, pilot report, trained admins/mentors and operational monitoring.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9202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IMPLEMENTATION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3233578" cy="421654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500" b="1" dirty="0">
                <a:solidFill>
                  <a:srgbClr val="182329"/>
                </a:solidFill>
                <a:latin typeface="Aptos"/>
              </a:rPr>
              <a:t>The readiness 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5349478" cy="283154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546066"/>
                </a:solidFill>
                <a:latin typeface="Aptos"/>
              </a:rPr>
              <a:t>FAP NextGen | Architecture, security and compliance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0292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800" b="1">
                <a:solidFill>
                  <a:srgbClr val="546066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017520" cy="201168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 dirty="0">
                <a:solidFill>
                  <a:srgbClr val="0F766E"/>
                </a:solidFill>
                <a:latin typeface="Aptos"/>
              </a:rPr>
              <a:t>Ready to project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 dirty="0"/>
              <a:t>Architecture, data model, RLS foundation, AI safety design, grant/research relevance and challenge recognition.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417320"/>
            <a:ext cx="3017520" cy="201168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B8860B"/>
                </a:solidFill>
                <a:latin typeface="Aptos"/>
              </a:rPr>
              <a:t>Ready to complete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In-app consent, rights workflow, VAPT, RLS test automation, vendor agreements and incident drill.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17320"/>
            <a:ext cx="3017520" cy="2011680"/>
          </a:xfrm>
          <a:prstGeom prst="roundRect">
            <a:avLst/>
          </a:prstGeom>
          <a:solidFill>
            <a:srgbClr val="EEF5F2"/>
          </a:solidFill>
          <a:ln>
            <a:solidFill>
              <a:srgbClr val="C8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109728" rtlCol="0" anchor="ctr"/>
          <a:lstStyle/>
          <a:p>
            <a:pPr algn="ctr"/>
            <a:r>
              <a:rPr b="1">
                <a:solidFill>
                  <a:srgbClr val="245B8C"/>
                </a:solidFill>
                <a:latin typeface="Aptos"/>
              </a:rPr>
              <a:t>Ready to scale</a:t>
            </a:r>
          </a:p>
          <a:p>
            <a:pPr>
              <a:spcBef>
                <a:spcPts val="500"/>
              </a:spcBef>
              <a:defRPr sz="1200">
                <a:solidFill>
                  <a:srgbClr val="182329"/>
                </a:solidFill>
                <a:latin typeface="Aptos"/>
              </a:defRPr>
            </a:pPr>
            <a:r>
              <a:rPr sz="1600"/>
              <a:t>After certification review and institutional sign-off, deploy cohort-wise with monitoring and support.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72597"/>
            <a:ext cx="9418320" cy="114492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400" b="1" dirty="0">
                <a:solidFill>
                  <a:srgbClr val="182329"/>
                </a:solidFill>
                <a:latin typeface="Aptos"/>
              </a:rPr>
              <a:t>Recommended wording: fully compliant-by-design and ready for patenting, certification review and full-scale implementation, subject to formal institutional/legal sign-offs.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920240" cy="2560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058400" cy="56692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l"/>
            <a:r>
              <a:rPr sz="2500" b="1">
                <a:solidFill>
                  <a:srgbClr val="182329"/>
                </a:solidFill>
                <a:latin typeface="Aptos"/>
              </a:rPr>
              <a:t>The compliance pack is grounded in current official references.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502920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>
            <a:defPPr>
              <a:defRPr lang="en-US"/>
            </a:defPPr>
            <a:lvl1pPr>
              <a:defRPr sz="1200" b="0">
                <a:solidFill>
                  <a:srgbClr val="546066"/>
                </a:solidFill>
                <a:latin typeface="Aptos"/>
              </a:defRPr>
            </a:lvl1pPr>
          </a:lstStyle>
          <a:p>
            <a:r>
              <a:t>FAP NextGen | Architecture, security and compliance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02920" cy="16459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800" b="1">
                <a:solidFill>
                  <a:srgbClr val="546066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830"/>
            <a:ext cx="10516583" cy="2726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182329"/>
                </a:solidFill>
                <a:latin typeface="Aptos"/>
              </a:defRPr>
            </a:pPr>
            <a:r>
              <a:rPr dirty="0" err="1"/>
              <a:t>MeitY</a:t>
            </a:r>
            <a:r>
              <a:rPr dirty="0"/>
              <a:t>: Digital Personal Data Protection Act, 2023.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182329"/>
                </a:solidFill>
                <a:latin typeface="Aptos"/>
              </a:defRPr>
            </a:pPr>
            <a:r>
              <a:rPr dirty="0" err="1"/>
              <a:t>MeitY</a:t>
            </a:r>
            <a:r>
              <a:rPr dirty="0"/>
              <a:t>: Digital Personal Data Protection Rules, 2025 and enforcement timeline, notified November 2025.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182329"/>
                </a:solidFill>
                <a:latin typeface="Aptos"/>
              </a:defRPr>
            </a:pPr>
            <a:r>
              <a:rPr dirty="0"/>
              <a:t>ICMR: National Ethical Guidelines for Biomedical and Health Research Involving Human Participants, 2017.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182329"/>
                </a:solidFill>
                <a:latin typeface="Aptos"/>
              </a:defRPr>
            </a:pPr>
            <a:r>
              <a:rPr dirty="0"/>
              <a:t>CERT-In: Cyber Security Directions under IT Act section 70B, 28 April 2022.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182329"/>
                </a:solidFill>
                <a:latin typeface="Aptos"/>
              </a:defRPr>
            </a:pPr>
            <a:r>
              <a:rPr dirty="0"/>
              <a:t>National Health Authority: ABDM overview and health-data governance direction.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182329"/>
                </a:solidFill>
                <a:latin typeface="Aptos"/>
              </a:defRPr>
            </a:pPr>
            <a:r>
              <a:rPr dirty="0"/>
              <a:t>NMC: CBME / Family Adoption Programme public references.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1384</Words>
  <Application>Microsoft Office PowerPoint</Application>
  <PresentationFormat>Widescreen</PresentationFormat>
  <Paragraphs>202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FAP NextGen Architecture Compliance Certification Readiness</dc:title>
  <dc:subject>Architecture, security, DPDP compliance, certification and patent readiness</dc:subject>
  <dc:creator>FAP NextGen Project Team</dc:creator>
  <cp:keywords/>
  <dc:description>generated using python-pptx</dc:description>
  <cp:lastModifiedBy>Dr Siddalingaiah H S</cp:lastModifiedBy>
  <cp:revision>4</cp:revision>
  <dcterms:created xsi:type="dcterms:W3CDTF">2013-01-27T09:14:16Z</dcterms:created>
  <dcterms:modified xsi:type="dcterms:W3CDTF">2026-05-28T09:16:55Z</dcterms:modified>
  <cp:category/>
</cp:coreProperties>
</file>